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86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690214305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Konatham Manasa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vr2768525@gmail.com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8498026913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Education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Interview Trainer Agent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E3E862-3E2F-EF1B-DB3C-6A70F1574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937" y="3683879"/>
            <a:ext cx="721896" cy="96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137459"/>
            <a:ext cx="1060704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1800" b="1" dirty="0"/>
              <a:t>Problem Statement : Interview Trainer Agent</a:t>
            </a:r>
            <a:r>
              <a:rPr lang="en-US" sz="1800" dirty="0"/>
              <a:t> </a:t>
            </a:r>
            <a:endParaRPr lang="en-US" sz="1800" b="1" dirty="0"/>
          </a:p>
          <a:p>
            <a:pPr fontAlgn="base">
              <a:lnSpc>
                <a:spcPct val="150000"/>
              </a:lnSpc>
            </a:pPr>
            <a:r>
              <a:rPr lang="en-US" sz="1800" b="1" dirty="0"/>
              <a:t>The Challenge</a:t>
            </a:r>
            <a:r>
              <a:rPr lang="en-US" sz="1800" dirty="0"/>
              <a:t> </a:t>
            </a:r>
          </a:p>
          <a:p>
            <a:pPr fontAlgn="base">
              <a:lnSpc>
                <a:spcPct val="150000"/>
              </a:lnSpc>
            </a:pPr>
            <a:r>
              <a:rPr lang="en-US" sz="1800" dirty="0"/>
              <a:t>Many students and job seekers find it difficult to prepare for interviews due to lack of practice, confidence, and proper feedback. Traditional preparation methods do not provide real-time evaluation or personalized suggestions for improvement.</a:t>
            </a:r>
          </a:p>
          <a:p>
            <a:pPr fontAlgn="base">
              <a:lnSpc>
                <a:spcPct val="150000"/>
              </a:lnSpc>
            </a:pPr>
            <a:r>
              <a:rPr lang="en-US" sz="1800" b="1" dirty="0"/>
              <a:t>The Objective</a:t>
            </a:r>
            <a:r>
              <a:rPr lang="en-US" sz="1800" dirty="0"/>
              <a:t> 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Develop an Interview Trainer Agent that: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Simulates real interview scenarios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Asks relevant technical and HR questions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Evaluates user responses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Provides structured feedback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Helps users improve communication and problem-solving skills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5516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576072" y="1165753"/>
            <a:ext cx="10607040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endParaRPr lang="en-US" b="1" dirty="0"/>
          </a:p>
          <a:p>
            <a:pPr fontAlgn="base">
              <a:lnSpc>
                <a:spcPct val="150000"/>
              </a:lnSpc>
            </a:pPr>
            <a:r>
              <a:rPr lang="en-IN" sz="1800" b="1" dirty="0"/>
              <a:t>Tech Stack (Mandatory)</a:t>
            </a:r>
            <a:endParaRPr lang="en-IN" sz="1800" dirty="0"/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IBM </a:t>
            </a:r>
            <a:r>
              <a:rPr lang="en-US" sz="1800" dirty="0" err="1"/>
              <a:t>Watsonx</a:t>
            </a:r>
            <a:r>
              <a:rPr lang="en-US" sz="1800" dirty="0"/>
              <a:t> Orchestrate + IBM Granite Models + IBM Cloud</a:t>
            </a:r>
            <a:endParaRPr lang="en-IN" sz="1800" dirty="0"/>
          </a:p>
          <a:p>
            <a:pPr fontAlgn="base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endParaRPr lang="en-US" sz="1800" b="1" dirty="0"/>
          </a:p>
          <a:p>
            <a:pPr>
              <a:lnSpc>
                <a:spcPct val="150000"/>
              </a:lnSpc>
            </a:pPr>
            <a:r>
              <a:rPr lang="en-US" sz="1800" b="1" dirty="0"/>
              <a:t>Proposed Solution: AI-Interview Trainer Agent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Interview Trainer Agent is designed to simulate real interview environments using IBM </a:t>
            </a:r>
            <a:r>
              <a:rPr lang="en-US" sz="1800" dirty="0" err="1"/>
              <a:t>Watsonx</a:t>
            </a:r>
            <a:r>
              <a:rPr lang="en-US" sz="1800" dirty="0"/>
              <a:t> Orchestrate and Granite models. It interacts with users by asking interview questions based on selected roles and difficulty levels.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system evaluates user responses in real time and provides structured feedback, including scores, strengths, weaknesses, and suggestions for improvement.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It also uses resume-based question generation to make interviews more personalized and relevant. The agent adapts dynamically to user performance, ensuring continuous learning and skill enhancement.</a:t>
            </a:r>
          </a:p>
          <a:p>
            <a:endParaRPr lang="en-US" b="1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1003607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Times New Roman"/>
                <a:cs typeface="Times New Roman"/>
                <a:sym typeface="Times New Roman"/>
              </a:rPr>
              <a:t>Orchestrate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968056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dirty="0"/>
          </a:p>
          <a:p>
            <a:r>
              <a:rPr lang="en-US" sz="1800" dirty="0"/>
              <a:t>1) User Input Interface – Accepts user responses during the interview.</a:t>
            </a:r>
          </a:p>
          <a:p>
            <a:pPr marL="342900" indent="-342900">
              <a:buAutoNum type="arabicParenR" startAt="3"/>
            </a:pPr>
            <a:endParaRPr lang="en-US" sz="1800" dirty="0"/>
          </a:p>
          <a:p>
            <a:r>
              <a:rPr lang="en-US" sz="1800" dirty="0"/>
              <a:t>2) Interview Agent (</a:t>
            </a:r>
            <a:r>
              <a:rPr lang="en-US" sz="1800" dirty="0" err="1"/>
              <a:t>Watsonx</a:t>
            </a:r>
            <a:r>
              <a:rPr lang="en-US" sz="1800" dirty="0"/>
              <a:t> Orchestrate) – Controls the interview flow and interaction.</a:t>
            </a:r>
          </a:p>
          <a:p>
            <a:endParaRPr lang="en-US" sz="1800" dirty="0"/>
          </a:p>
          <a:p>
            <a:r>
              <a:rPr lang="en-US" sz="1800" dirty="0"/>
              <a:t>3) IBM Granite Model – Generates questions and evaluates answers.</a:t>
            </a:r>
          </a:p>
          <a:p>
            <a:pPr marL="342900" indent="-342900">
              <a:buAutoNum type="arabicParenR" startAt="3"/>
            </a:pPr>
            <a:endParaRPr lang="en-US" sz="1800" dirty="0"/>
          </a:p>
          <a:p>
            <a:r>
              <a:rPr lang="en-US" sz="1800" dirty="0"/>
              <a:t>4) Chat Output Interface – Displays questions, feedback, and scores.</a:t>
            </a:r>
          </a:p>
          <a:p>
            <a:pPr marL="342900" indent="-342900">
              <a:buAutoNum type="arabicParenR" startAt="3"/>
            </a:pPr>
            <a:endParaRPr lang="en-US" sz="1800" dirty="0"/>
          </a:p>
          <a:p>
            <a:r>
              <a:rPr lang="en-US" sz="1800" dirty="0"/>
              <a:t>5) Response Evaluation Component – Analyzes answers and provides structured feedback.</a:t>
            </a:r>
          </a:p>
          <a:p>
            <a:pPr marL="342900" indent="-342900">
              <a:buAutoNum type="arabicParenR" startAt="3"/>
            </a:pPr>
            <a:endParaRPr lang="en-US" sz="1800" dirty="0"/>
          </a:p>
          <a:p>
            <a:r>
              <a:rPr lang="en-US" sz="1800" dirty="0"/>
              <a:t>6) Prompt Engineering Component – Controls question generation and evaluation logic.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393486" y="577047"/>
            <a:ext cx="8190774" cy="632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Interview Agent Workflow (</a:t>
            </a:r>
            <a:r>
              <a:rPr lang="en-US" sz="2400" b="1" dirty="0" err="1">
                <a:sym typeface="Times New Roman"/>
              </a:rPr>
              <a:t>Watsonx</a:t>
            </a:r>
            <a:r>
              <a:rPr lang="en-US" sz="2400" b="1" dirty="0">
                <a:sym typeface="Times New Roman"/>
              </a:rPr>
              <a:t> Orchestrate)-</a:t>
            </a:r>
            <a:endParaRPr sz="2400" b="1" dirty="0"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FA6E24-8C8A-DB70-4155-F8A7AC99CEA7}"/>
              </a:ext>
            </a:extLst>
          </p:cNvPr>
          <p:cNvSpPr txBox="1"/>
          <p:nvPr/>
        </p:nvSpPr>
        <p:spPr>
          <a:xfrm>
            <a:off x="249382" y="1365219"/>
            <a:ext cx="472713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1. User starts the interview session  </a:t>
            </a:r>
          </a:p>
          <a:p>
            <a:endParaRPr lang="en-IN" sz="1800" dirty="0"/>
          </a:p>
          <a:p>
            <a:r>
              <a:rPr lang="en-IN" sz="1800" dirty="0"/>
              <a:t>2. The Interview Agent generates and asks  question  </a:t>
            </a:r>
          </a:p>
          <a:p>
            <a:endParaRPr lang="en-IN" sz="1800" dirty="0"/>
          </a:p>
          <a:p>
            <a:r>
              <a:rPr lang="en-IN" sz="1800" dirty="0"/>
              <a:t>3. User submits their response  </a:t>
            </a:r>
          </a:p>
          <a:p>
            <a:endParaRPr lang="en-IN" sz="1800" dirty="0"/>
          </a:p>
          <a:p>
            <a:r>
              <a:rPr lang="en-IN" sz="1800" dirty="0"/>
              <a:t>4. IBM Granite model evaluates the answer  </a:t>
            </a:r>
          </a:p>
          <a:p>
            <a:endParaRPr lang="en-IN" sz="1800" dirty="0"/>
          </a:p>
          <a:p>
            <a:r>
              <a:rPr lang="en-IN" sz="1800" dirty="0"/>
              <a:t>5. System generates feedback and score  </a:t>
            </a:r>
          </a:p>
          <a:p>
            <a:endParaRPr lang="en-IN" sz="1800" dirty="0"/>
          </a:p>
          <a:p>
            <a:r>
              <a:rPr lang="en-IN" sz="1800" dirty="0"/>
              <a:t>6. Agent asks the next question  </a:t>
            </a:r>
          </a:p>
          <a:p>
            <a:endParaRPr lang="en-IN" sz="1800" dirty="0"/>
          </a:p>
          <a:p>
            <a:r>
              <a:rPr lang="en-IN" sz="1800" dirty="0"/>
              <a:t>7. Final performance summary is provided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651E33-DB4C-9704-545B-0065067E93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7" t="6371" r="1499"/>
          <a:stretch>
            <a:fillRect/>
          </a:stretch>
        </p:blipFill>
        <p:spPr>
          <a:xfrm>
            <a:off x="4807974" y="1209772"/>
            <a:ext cx="7266039" cy="492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699152" y="512287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/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D781D-6A96-80CB-E788-8C84B2389A29}"/>
              </a:ext>
            </a:extLst>
          </p:cNvPr>
          <p:cNvSpPr txBox="1"/>
          <p:nvPr/>
        </p:nvSpPr>
        <p:spPr>
          <a:xfrm>
            <a:off x="699152" y="1144947"/>
            <a:ext cx="80772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User (Chat Interface)</a:t>
            </a:r>
          </a:p>
          <a:p>
            <a:r>
              <a:rPr lang="en-IN" sz="1800" dirty="0"/>
              <a:t>              </a:t>
            </a:r>
            <a:r>
              <a:rPr lang="en-IN" sz="1800" b="1" dirty="0"/>
              <a:t>↓</a:t>
            </a:r>
          </a:p>
          <a:p>
            <a:r>
              <a:rPr lang="en-IN" sz="1800" b="1" dirty="0"/>
              <a:t>IBM </a:t>
            </a:r>
            <a:r>
              <a:rPr lang="en-IN" sz="1800" b="1" dirty="0" err="1"/>
              <a:t>Watsonx</a:t>
            </a:r>
            <a:r>
              <a:rPr lang="en-IN" sz="1800" b="1" dirty="0"/>
              <a:t> Orchestrate Agent</a:t>
            </a:r>
          </a:p>
          <a:p>
            <a:r>
              <a:rPr lang="en-IN" sz="1800" dirty="0"/>
              <a:t>              </a:t>
            </a:r>
            <a:r>
              <a:rPr lang="en-IN" sz="1800" b="1" dirty="0"/>
              <a:t>↓</a:t>
            </a:r>
          </a:p>
          <a:p>
            <a:r>
              <a:rPr lang="en-IN" sz="1800" b="1" dirty="0"/>
              <a:t>IBM Granite Model</a:t>
            </a:r>
          </a:p>
          <a:p>
            <a:r>
              <a:rPr lang="en-IN" sz="1800" dirty="0"/>
              <a:t>             </a:t>
            </a:r>
            <a:r>
              <a:rPr lang="en-IN" sz="1800" b="1" dirty="0"/>
              <a:t> ↓</a:t>
            </a:r>
          </a:p>
          <a:p>
            <a:r>
              <a:rPr lang="en-IN" sz="1800" b="1" dirty="0"/>
              <a:t>Prompt Engineering Logic</a:t>
            </a:r>
          </a:p>
          <a:p>
            <a:r>
              <a:rPr lang="en-IN" sz="1800" b="1" dirty="0"/>
              <a:t>              ↓</a:t>
            </a:r>
          </a:p>
          <a:p>
            <a:r>
              <a:rPr lang="en-IN" sz="1800" b="1" dirty="0"/>
              <a:t>Response Evaluation</a:t>
            </a:r>
          </a:p>
          <a:p>
            <a:r>
              <a:rPr lang="en-IN" sz="1800" b="1" dirty="0"/>
              <a:t>              ↓</a:t>
            </a:r>
          </a:p>
          <a:p>
            <a:r>
              <a:rPr lang="en-IN" sz="1800" b="1" dirty="0"/>
              <a:t>Feedback Output (Score + Suggestions)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561920" y="505137"/>
            <a:ext cx="9317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Role of Agentic AI in the solution </a:t>
            </a:r>
            <a:endParaRPr lang="en-IN" sz="2400" b="1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Role of Agentic AI in Interview Trainer Agent</a:t>
            </a:r>
          </a:p>
          <a:p>
            <a:r>
              <a:rPr lang="en-US" sz="1800" dirty="0"/>
              <a:t>Agentic AI enables the system to act as an intelligent interviewer rather than a simple chatbot.</a:t>
            </a:r>
          </a:p>
          <a:p>
            <a:endParaRPr lang="en-US" sz="1800" b="1" dirty="0"/>
          </a:p>
          <a:p>
            <a:r>
              <a:rPr lang="en-US" sz="1800" b="1" dirty="0"/>
              <a:t>The agent independently:</a:t>
            </a:r>
          </a:p>
          <a:p>
            <a:r>
              <a:rPr lang="en-US" sz="1800" b="1" dirty="0"/>
              <a:t>- Generates interview questions</a:t>
            </a:r>
          </a:p>
          <a:p>
            <a:r>
              <a:rPr lang="en-US" sz="1800" b="1" dirty="0"/>
              <a:t>- Evaluates user responses</a:t>
            </a:r>
          </a:p>
          <a:p>
            <a:r>
              <a:rPr lang="en-US" sz="1800" b="1" dirty="0"/>
              <a:t>- Provides structured feedback</a:t>
            </a:r>
          </a:p>
          <a:p>
            <a:endParaRPr lang="en-US" sz="1800" b="1" dirty="0"/>
          </a:p>
          <a:p>
            <a:r>
              <a:rPr lang="en-US" sz="1800" dirty="0"/>
              <a:t>It adapts based on user performance, making the interview dynamic and personalized.</a:t>
            </a:r>
          </a:p>
          <a:p>
            <a:endParaRPr lang="en-US" sz="1800" dirty="0"/>
          </a:p>
          <a:p>
            <a:r>
              <a:rPr lang="en-US" sz="1800" dirty="0"/>
              <a:t>This creates a real interview-like experience and helps users improve continuously.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514004" y="498487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514004" y="1207008"/>
            <a:ext cx="105156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Watsonx</a:t>
            </a:r>
            <a:r>
              <a:rPr lang="en-US" sz="1800" b="1" dirty="0"/>
              <a:t> Orchestrate </a:t>
            </a:r>
            <a:r>
              <a:rPr lang="en-US" sz="1800" dirty="0"/>
              <a:t>– Used to build and manage the interview agent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IBM Granite Model </a:t>
            </a:r>
            <a:r>
              <a:rPr lang="en-US" sz="1800" dirty="0"/>
              <a:t>– Used for question generation and answer evaluation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Platform for deployment and execution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Prompt Engineering </a:t>
            </a:r>
            <a:r>
              <a:rPr lang="en-US" sz="1800" dirty="0"/>
              <a:t>– Defines logic for responses and evaluation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Knowledge Source </a:t>
            </a:r>
            <a:r>
              <a:rPr lang="en-US" sz="1800" dirty="0"/>
              <a:t>– Resume-based personalization (if used)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445008" y="429214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445008" y="1220863"/>
            <a:ext cx="11301984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The Interview Trainer Agent stands out by using Agentic AI to simulate a real interview experience instead of a simple question-answer system.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- </a:t>
            </a:r>
            <a:r>
              <a:rPr lang="en-US" sz="1800" b="1" dirty="0"/>
              <a:t>AI-Based Interview Simulation </a:t>
            </a:r>
            <a:r>
              <a:rPr lang="en-US" sz="1800" dirty="0"/>
              <a:t>– Acts like a real interviewer by asking dynamic and context-aware questions.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- </a:t>
            </a:r>
            <a:r>
              <a:rPr lang="en-US" sz="1800" b="1" dirty="0"/>
              <a:t>Real-Time Response Evaluation </a:t>
            </a:r>
            <a:r>
              <a:rPr lang="en-US" sz="1800" dirty="0"/>
              <a:t>– Provides instant feedback, scoring, and improvement suggestions.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- </a:t>
            </a:r>
            <a:r>
              <a:rPr lang="en-US" sz="1800" b="1" dirty="0"/>
              <a:t>Adaptive Questioning </a:t>
            </a:r>
            <a:r>
              <a:rPr lang="en-US" sz="1800" dirty="0"/>
              <a:t>– Adjusts question difficulty based on user performance.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- </a:t>
            </a:r>
            <a:r>
              <a:rPr lang="en-US" sz="1800" b="1" dirty="0"/>
              <a:t>Personalized Interaction </a:t>
            </a:r>
            <a:r>
              <a:rPr lang="en-US" sz="1800" dirty="0"/>
              <a:t>– Can generate questions based on user role or background.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- </a:t>
            </a:r>
            <a:r>
              <a:rPr lang="en-US" sz="1800" b="1" dirty="0"/>
              <a:t>No Static Dataset Required </a:t>
            </a:r>
            <a:r>
              <a:rPr lang="en-US" sz="1800" dirty="0"/>
              <a:t>– Uses IBM Granite models for dynamic question generation and evaluation.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- </a:t>
            </a:r>
            <a:r>
              <a:rPr lang="en-US" sz="1800" b="1" dirty="0"/>
              <a:t>Continuous Learning Experience </a:t>
            </a:r>
            <a:r>
              <a:rPr lang="en-US" sz="1800" dirty="0"/>
              <a:t>– Helps users improve confidence and communication skills through repeated practice.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This makes the system an intelligent and interactive interview coach rather than a static preparation tool.</a:t>
            </a:r>
            <a:endParaRPr lang="en-IN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36467" y="383097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756608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IN" sz="1850" dirty="0">
                <a:latin typeface="Times New Roman"/>
                <a:ea typeface="Times New Roman"/>
                <a:cs typeface="Times New Roman"/>
                <a:sym typeface="Times New Roman"/>
              </a:rPr>
              <a:t>Git </a:t>
            </a:r>
            <a:r>
              <a:rPr lang="en-IN" sz="1850">
                <a:latin typeface="Times New Roman"/>
                <a:ea typeface="Times New Roman"/>
                <a:cs typeface="Times New Roman"/>
                <a:sym typeface="Times New Roman"/>
              </a:rPr>
              <a:t>Hub URL-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484433" y="517698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484433" y="1221715"/>
            <a:ext cx="9158331" cy="4208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0000"/>
              </a:lnSpc>
              <a:buClr>
                <a:srgbClr val="2B3541"/>
              </a:buClr>
              <a:buSzPts val="1850"/>
            </a:pPr>
            <a:r>
              <a:rPr lang="en-US" sz="1800" b="1" dirty="0">
                <a:latin typeface="+mn-lt"/>
                <a:ea typeface="Times New Roman"/>
                <a:cs typeface="Times New Roman"/>
                <a:sym typeface="Times New Roman"/>
              </a:rPr>
              <a:t>1. Voice-Based Interview Interaction – </a:t>
            </a:r>
          </a:p>
          <a:p>
            <a:pPr lvl="0">
              <a:lnSpc>
                <a:spcPct val="150000"/>
              </a:lnSpc>
              <a:buClr>
                <a:srgbClr val="2B3541"/>
              </a:buClr>
              <a:buSzPts val="1850"/>
            </a:pPr>
            <a:r>
              <a:rPr lang="en-US" sz="1800" dirty="0">
                <a:latin typeface="+mn-lt"/>
                <a:ea typeface="Times New Roman"/>
                <a:cs typeface="Times New Roman"/>
                <a:sym typeface="Times New Roman"/>
              </a:rPr>
              <a:t>Enable users to practice interviews using voice for a more realistic experience.</a:t>
            </a:r>
          </a:p>
          <a:p>
            <a:pPr lvl="0">
              <a:lnSpc>
                <a:spcPct val="150000"/>
              </a:lnSpc>
              <a:buClr>
                <a:srgbClr val="2B3541"/>
              </a:buClr>
              <a:buSzPts val="1850"/>
            </a:pPr>
            <a:r>
              <a:rPr lang="en-US" sz="1800" b="1" dirty="0">
                <a:latin typeface="+mn-lt"/>
                <a:ea typeface="Times New Roman"/>
                <a:cs typeface="Times New Roman"/>
                <a:sym typeface="Times New Roman"/>
              </a:rPr>
              <a:t>2. Web-Based User Interface – </a:t>
            </a:r>
          </a:p>
          <a:p>
            <a:pPr lvl="0">
              <a:lnSpc>
                <a:spcPct val="150000"/>
              </a:lnSpc>
              <a:buClr>
                <a:srgbClr val="2B3541"/>
              </a:buClr>
              <a:buSzPts val="1850"/>
            </a:pPr>
            <a:r>
              <a:rPr lang="en-US" sz="1800" dirty="0">
                <a:latin typeface="+mn-lt"/>
                <a:ea typeface="Times New Roman"/>
                <a:cs typeface="Times New Roman"/>
                <a:sym typeface="Times New Roman"/>
              </a:rPr>
              <a:t>Develop a complete web or mobile application for better usability.</a:t>
            </a:r>
          </a:p>
          <a:p>
            <a:pPr lvl="0">
              <a:lnSpc>
                <a:spcPct val="150000"/>
              </a:lnSpc>
              <a:buClr>
                <a:srgbClr val="2B3541"/>
              </a:buClr>
              <a:buSzPts val="1850"/>
            </a:pPr>
            <a:r>
              <a:rPr lang="en-US" sz="1800" b="1" dirty="0">
                <a:latin typeface="+mn-lt"/>
                <a:ea typeface="Times New Roman"/>
                <a:cs typeface="Times New Roman"/>
                <a:sym typeface="Times New Roman"/>
              </a:rPr>
              <a:t>3. Multi-Language Support – </a:t>
            </a:r>
          </a:p>
          <a:p>
            <a:pPr lvl="0">
              <a:lnSpc>
                <a:spcPct val="150000"/>
              </a:lnSpc>
              <a:buClr>
                <a:srgbClr val="2B3541"/>
              </a:buClr>
              <a:buSzPts val="1850"/>
            </a:pPr>
            <a:r>
              <a:rPr lang="en-US" sz="1800" dirty="0">
                <a:latin typeface="+mn-lt"/>
                <a:ea typeface="Times New Roman"/>
                <a:cs typeface="Times New Roman"/>
                <a:sym typeface="Times New Roman"/>
              </a:rPr>
              <a:t>Allow interviews in multiple languages to support diverse users.</a:t>
            </a:r>
          </a:p>
          <a:p>
            <a:pPr lvl="0">
              <a:lnSpc>
                <a:spcPct val="150000"/>
              </a:lnSpc>
              <a:buClr>
                <a:srgbClr val="2B3541"/>
              </a:buClr>
              <a:buSzPts val="1850"/>
            </a:pPr>
            <a:r>
              <a:rPr lang="en-US" sz="1800" b="1" dirty="0">
                <a:latin typeface="+mn-lt"/>
                <a:ea typeface="Times New Roman"/>
                <a:cs typeface="Times New Roman"/>
                <a:sym typeface="Times New Roman"/>
              </a:rPr>
              <a:t>4. Advanced Performance Analytics – </a:t>
            </a:r>
          </a:p>
          <a:p>
            <a:pPr lvl="0">
              <a:lnSpc>
                <a:spcPct val="150000"/>
              </a:lnSpc>
              <a:buClr>
                <a:srgbClr val="2B3541"/>
              </a:buClr>
              <a:buSzPts val="1850"/>
            </a:pPr>
            <a:r>
              <a:rPr lang="en-US" sz="1800" dirty="0">
                <a:latin typeface="+mn-lt"/>
                <a:ea typeface="Times New Roman"/>
                <a:cs typeface="Times New Roman"/>
                <a:sym typeface="Times New Roman"/>
              </a:rPr>
              <a:t>Provide detailed reports and progress tracking to improve user performance over time.</a:t>
            </a:r>
            <a:endParaRPr sz="1800" b="0" i="0" u="none" strike="noStrike" cap="none" dirty="0">
              <a:solidFill>
                <a:srgbClr val="00000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</TotalTime>
  <Words>770</Words>
  <Application>Microsoft Office PowerPoint</Application>
  <PresentationFormat>Widescreen</PresentationFormat>
  <Paragraphs>124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Konatham Manasa</cp:lastModifiedBy>
  <cp:revision>22</cp:revision>
  <dcterms:created xsi:type="dcterms:W3CDTF">2025-07-08T05:06:56Z</dcterms:created>
  <dcterms:modified xsi:type="dcterms:W3CDTF">2026-05-27T16:03:40Z</dcterms:modified>
</cp:coreProperties>
</file>